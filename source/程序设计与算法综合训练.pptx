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9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730" r:id="rId2"/>
    <p:sldId id="731" r:id="rId3"/>
    <p:sldId id="883" r:id="rId4"/>
    <p:sldId id="867" r:id="rId5"/>
    <p:sldId id="866" r:id="rId6"/>
    <p:sldId id="870" r:id="rId7"/>
    <p:sldId id="865" r:id="rId8"/>
    <p:sldId id="873" r:id="rId9"/>
    <p:sldId id="872" r:id="rId10"/>
    <p:sldId id="875" r:id="rId11"/>
    <p:sldId id="876" r:id="rId12"/>
    <p:sldId id="877" r:id="rId13"/>
    <p:sldId id="878" r:id="rId14"/>
    <p:sldId id="879" r:id="rId15"/>
    <p:sldId id="880" r:id="rId16"/>
    <p:sldId id="881" r:id="rId17"/>
    <p:sldId id="882" r:id="rId18"/>
    <p:sldId id="884" r:id="rId19"/>
    <p:sldId id="734" r:id="rId20"/>
    <p:sldId id="886" r:id="rId21"/>
    <p:sldId id="887" r:id="rId22"/>
    <p:sldId id="899" r:id="rId23"/>
    <p:sldId id="888" r:id="rId24"/>
    <p:sldId id="889" r:id="rId25"/>
    <p:sldId id="891" r:id="rId26"/>
    <p:sldId id="892" r:id="rId27"/>
    <p:sldId id="893" r:id="rId28"/>
    <p:sldId id="894" r:id="rId29"/>
    <p:sldId id="895" r:id="rId30"/>
    <p:sldId id="896" r:id="rId31"/>
    <p:sldId id="897" r:id="rId32"/>
    <p:sldId id="898" r:id="rId33"/>
  </p:sldIdLst>
  <p:sldSz cx="9144000" cy="6858000" type="screen4x3"/>
  <p:notesSz cx="6797675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Hazelwood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FF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89526" autoAdjust="0"/>
  </p:normalViewPr>
  <p:slideViewPr>
    <p:cSldViewPr>
      <p:cViewPr varScale="1">
        <p:scale>
          <a:sx n="142" d="100"/>
          <a:sy n="142" d="100"/>
        </p:scale>
        <p:origin x="177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27762"/>
    </p:cViewPr>
  </p:sorterViewPr>
  <p:notesViewPr>
    <p:cSldViewPr>
      <p:cViewPr varScale="1">
        <p:scale>
          <a:sx n="54" d="100"/>
          <a:sy n="54" d="100"/>
        </p:scale>
        <p:origin x="-2820" y="-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85CBAE4-F8D9-4129-B51F-0DB4BEA986F1}" type="datetimeFigureOut">
              <a:rPr lang="en-US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198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62" y="0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077E5B7F-BBE2-45B0-AC4C-D9CC9AA6B88A}" type="datetimeFigureOut">
              <a:rPr lang="zh-CN" altLang="en-US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383" y="4716585"/>
            <a:ext cx="5436909" cy="446736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62" y="9429779"/>
            <a:ext cx="2946275" cy="49675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73790652-C02E-4B6F-A52E-6A0D29B3CC7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264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5379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3790652-C02E-4B6F-A52E-6A0D29B3CC7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10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7"/>
          <p:cNvSpPr/>
          <p:nvPr userDrawn="1"/>
        </p:nvSpPr>
        <p:spPr>
          <a:xfrm>
            <a:off x="0" y="0"/>
            <a:ext cx="9144000" cy="1125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24266"/>
            <a:ext cx="8229600" cy="660930"/>
          </a:xfrm>
        </p:spPr>
        <p:txBody>
          <a:bodyPr bIns="46800" anchor="b">
            <a:normAutofit/>
          </a:bodyPr>
          <a:lstStyle>
            <a:lvl1pPr algn="l">
              <a:defRPr sz="3600" b="1" baseline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14845"/>
            <a:ext cx="8229600" cy="467845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6350"/>
            <a:ext cx="9144000" cy="935038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68313" y="1125538"/>
            <a:ext cx="822960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046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2012/12/19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843808" y="6240463"/>
            <a:ext cx="34563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基于标签路径特征的</a:t>
            </a:r>
            <a:r>
              <a:rPr lang="en-US" altLang="zh-CN"/>
              <a:t>Web</a:t>
            </a:r>
            <a:r>
              <a:rPr lang="zh-CN" altLang="en-US"/>
              <a:t>新闻内容抽取研究</a:t>
            </a:r>
            <a:endParaRPr lang="zh-CN" altLang="en-US" dirty="0"/>
          </a:p>
        </p:txBody>
      </p:sp>
      <p:pic>
        <p:nvPicPr>
          <p:cNvPr id="1031" name="图片 2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6580188"/>
            <a:ext cx="9144000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 userDrawn="1"/>
        </p:nvSpPr>
        <p:spPr>
          <a:xfrm>
            <a:off x="468313" y="0"/>
            <a:ext cx="8675687" cy="828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34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146050"/>
            <a:ext cx="8229600" cy="777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  <p:hf hdr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82713" y="5661025"/>
            <a:ext cx="6400800" cy="431800"/>
          </a:xfrm>
        </p:spPr>
        <p:txBody>
          <a:bodyPr rtlCol="0">
            <a:normAutofit/>
          </a:bodyPr>
          <a:lstStyle/>
          <a:p>
            <a:pPr>
              <a:spcAft>
                <a:spcPts val="0"/>
              </a:spcAft>
              <a:buFont typeface="Arial" panose="020B0604020202020204" pitchFamily="34" charset="0"/>
              <a:buNone/>
              <a:defRPr/>
            </a:pPr>
            <a:fld id="{2486BAB1-036C-431F-9851-ED4B3EC2F265}" type="datetime1">
              <a:rPr lang="zh-CN" altLang="en-US" sz="2200" smtClean="0">
                <a:solidFill>
                  <a:srgbClr val="929292"/>
                </a:solidFill>
              </a:rPr>
              <a:t>2026/4/29</a:t>
            </a:fld>
            <a:endParaRPr lang="zh-CN" altLang="en-US" sz="2200" dirty="0">
              <a:solidFill>
                <a:srgbClr val="929292"/>
              </a:solidFill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544756" y="1772816"/>
            <a:ext cx="7560840" cy="309629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b="1" dirty="0"/>
              <a:t>            </a:t>
            </a:r>
          </a:p>
          <a:p>
            <a:pPr algn="l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b="1" dirty="0"/>
              <a:t>               </a:t>
            </a:r>
            <a:r>
              <a:rPr lang="zh-CN" altLang="en-US" sz="3200" b="1" dirty="0">
                <a:sym typeface="+mn-ea"/>
              </a:rPr>
              <a:t>程序设计与算法综合训练</a:t>
            </a:r>
            <a:br>
              <a:rPr lang="en-US" altLang="zh-CN" sz="3600" dirty="0"/>
            </a:br>
            <a:endParaRPr lang="en-US" altLang="zh-CN" sz="3600" dirty="0"/>
          </a:p>
          <a:p>
            <a:pPr algn="l"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3200" b="1" dirty="0"/>
              <a:t>                  </a:t>
            </a:r>
            <a:endParaRPr lang="en-US" altLang="zh-CN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284"/>
    </mc:Choice>
    <mc:Fallback xmlns="">
      <p:transition advTm="128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同侧圆角矩形 10"/>
          <p:cNvSpPr/>
          <p:nvPr/>
        </p:nvSpPr>
        <p:spPr>
          <a:xfrm rot="16200000">
            <a:off x="1256900" y="1921030"/>
            <a:ext cx="565200" cy="864986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12" name="同侧圆角矩形 11"/>
          <p:cNvSpPr/>
          <p:nvPr/>
        </p:nvSpPr>
        <p:spPr>
          <a:xfrm rot="16200000" flipV="1">
            <a:off x="4573112" y="-465881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2092643" y="2071712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EasyX</a:t>
            </a:r>
            <a:endParaRPr lang="zh-CN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12976" y="2122690"/>
            <a:ext cx="34015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406" name="标题 1"/>
          <p:cNvSpPr>
            <a:spLocks noGrp="1"/>
          </p:cNvSpPr>
          <p:nvPr>
            <p:ph type="title"/>
          </p:nvPr>
        </p:nvSpPr>
        <p:spPr>
          <a:xfrm>
            <a:off x="457200" y="123825"/>
            <a:ext cx="8229600" cy="661988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提纲</a:t>
            </a:r>
          </a:p>
        </p:txBody>
      </p:sp>
      <p:sp>
        <p:nvSpPr>
          <p:cNvPr id="33" name="同侧圆角矩形 32"/>
          <p:cNvSpPr/>
          <p:nvPr/>
        </p:nvSpPr>
        <p:spPr>
          <a:xfrm rot="16200000">
            <a:off x="1265261" y="3515419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4" name="同侧圆角矩形 33"/>
          <p:cNvSpPr/>
          <p:nvPr/>
        </p:nvSpPr>
        <p:spPr>
          <a:xfrm rot="16200000" flipV="1">
            <a:off x="4543331" y="360346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35" name="矩形 34"/>
          <p:cNvSpPr/>
          <p:nvPr/>
        </p:nvSpPr>
        <p:spPr>
          <a:xfrm>
            <a:off x="2062862" y="2935808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案例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1422882" y="3681106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" name="同侧圆角矩形 36"/>
          <p:cNvSpPr/>
          <p:nvPr/>
        </p:nvSpPr>
        <p:spPr>
          <a:xfrm rot="16200000">
            <a:off x="1267344" y="4378957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8" name="同侧圆角矩形 37"/>
          <p:cNvSpPr/>
          <p:nvPr/>
        </p:nvSpPr>
        <p:spPr>
          <a:xfrm rot="16200000" flipV="1">
            <a:off x="4545414" y="1118319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2121384" y="3645024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设计策略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413996" y="4571193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2" name="同侧圆角矩形 41"/>
          <p:cNvSpPr/>
          <p:nvPr/>
        </p:nvSpPr>
        <p:spPr>
          <a:xfrm rot="16200000" flipV="1">
            <a:off x="4546032" y="1982415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2065563" y="4519426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基本要求</a:t>
            </a:r>
          </a:p>
        </p:txBody>
      </p:sp>
      <p:sp>
        <p:nvSpPr>
          <p:cNvPr id="53" name="同侧圆角矩形 52"/>
          <p:cNvSpPr/>
          <p:nvPr/>
        </p:nvSpPr>
        <p:spPr>
          <a:xfrm rot="16200000">
            <a:off x="1247476" y="2757495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1422882" y="3019600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659"/>
    </mc:Choice>
    <mc:Fallback xmlns="">
      <p:transition advTm="365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同侧圆角矩形 10"/>
          <p:cNvSpPr/>
          <p:nvPr/>
        </p:nvSpPr>
        <p:spPr>
          <a:xfrm rot="16200000">
            <a:off x="1256900" y="1921030"/>
            <a:ext cx="565200" cy="864986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12" name="同侧圆角矩形 11"/>
          <p:cNvSpPr/>
          <p:nvPr/>
        </p:nvSpPr>
        <p:spPr>
          <a:xfrm rot="16200000" flipV="1">
            <a:off x="4573112" y="-465881"/>
            <a:ext cx="565150" cy="5640387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2092643" y="2071712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EasyX</a:t>
            </a:r>
            <a:endParaRPr lang="zh-CN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12976" y="2122690"/>
            <a:ext cx="34015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406" name="标题 1"/>
          <p:cNvSpPr>
            <a:spLocks noGrp="1"/>
          </p:cNvSpPr>
          <p:nvPr>
            <p:ph type="title"/>
          </p:nvPr>
        </p:nvSpPr>
        <p:spPr>
          <a:xfrm>
            <a:off x="457200" y="123825"/>
            <a:ext cx="8229600" cy="661988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提纲</a:t>
            </a:r>
          </a:p>
        </p:txBody>
      </p:sp>
      <p:sp>
        <p:nvSpPr>
          <p:cNvPr id="33" name="同侧圆角矩形 32"/>
          <p:cNvSpPr/>
          <p:nvPr/>
        </p:nvSpPr>
        <p:spPr>
          <a:xfrm rot="16200000">
            <a:off x="1265261" y="3515419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4" name="同侧圆角矩形 33"/>
          <p:cNvSpPr/>
          <p:nvPr/>
        </p:nvSpPr>
        <p:spPr>
          <a:xfrm rot="16200000" flipV="1">
            <a:off x="4543331" y="360346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35" name="矩形 34"/>
          <p:cNvSpPr/>
          <p:nvPr/>
        </p:nvSpPr>
        <p:spPr>
          <a:xfrm>
            <a:off x="2062862" y="2935808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案例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1422882" y="3681106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" name="同侧圆角矩形 36"/>
          <p:cNvSpPr/>
          <p:nvPr/>
        </p:nvSpPr>
        <p:spPr>
          <a:xfrm rot="16200000">
            <a:off x="1267344" y="4378957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8" name="同侧圆角矩形 37"/>
          <p:cNvSpPr/>
          <p:nvPr/>
        </p:nvSpPr>
        <p:spPr>
          <a:xfrm rot="16200000" flipV="1">
            <a:off x="4545414" y="1118319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2121384" y="3645024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设计策略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413996" y="4571193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2" name="同侧圆角矩形 41"/>
          <p:cNvSpPr/>
          <p:nvPr/>
        </p:nvSpPr>
        <p:spPr>
          <a:xfrm rot="16200000" flipV="1">
            <a:off x="4546032" y="1982415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2065563" y="4519426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基本要求</a:t>
            </a:r>
          </a:p>
        </p:txBody>
      </p:sp>
      <p:sp>
        <p:nvSpPr>
          <p:cNvPr id="53" name="同侧圆角矩形 52"/>
          <p:cNvSpPr/>
          <p:nvPr/>
        </p:nvSpPr>
        <p:spPr>
          <a:xfrm rot="16200000">
            <a:off x="1247476" y="2757495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1422882" y="3019600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831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659"/>
    </mc:Choice>
    <mc:Fallback xmlns="">
      <p:transition advTm="365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EasyX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800" dirty="0">
                <a:sym typeface="+mn-ea"/>
              </a:rPr>
              <a:t>安装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b="1" dirty="0"/>
              <a:t>https://easyx.cn/how-to-vc2010</a:t>
            </a:r>
            <a:endParaRPr lang="en-US" altLang="zh-CN" sz="28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32856"/>
            <a:ext cx="6192688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87" y="1772816"/>
            <a:ext cx="419100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5013176"/>
            <a:ext cx="5400600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15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EasyX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8"/>
            <a:ext cx="6102350" cy="433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583" y="3035300"/>
            <a:ext cx="4048889" cy="3219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950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EasyX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800" dirty="0">
                <a:sym typeface="+mn-ea"/>
              </a:rPr>
              <a:t>基于</a:t>
            </a:r>
            <a:r>
              <a:rPr lang="en-US" altLang="zh-CN" sz="2800" dirty="0">
                <a:sym typeface="+mn-ea"/>
              </a:rPr>
              <a:t>Windows</a:t>
            </a:r>
            <a:r>
              <a:rPr lang="zh-CN" altLang="en-US" sz="2800" dirty="0">
                <a:sym typeface="+mn-ea"/>
              </a:rPr>
              <a:t>图形编程，将</a:t>
            </a:r>
            <a:r>
              <a:rPr lang="en-US" altLang="zh-CN" sz="2800" dirty="0">
                <a:sym typeface="+mn-ea"/>
              </a:rPr>
              <a:t>Windows</a:t>
            </a:r>
            <a:r>
              <a:rPr lang="zh-CN" altLang="en-US" sz="2800" dirty="0">
                <a:sym typeface="+mn-ea"/>
              </a:rPr>
              <a:t>下复杂的程序过程封装，将</a:t>
            </a:r>
            <a:r>
              <a:rPr lang="en-US" altLang="zh-CN" sz="2800" dirty="0">
                <a:sym typeface="+mn-ea"/>
              </a:rPr>
              <a:t>Windows</a:t>
            </a:r>
            <a:r>
              <a:rPr lang="zh-CN" altLang="en-US" sz="2800" dirty="0">
                <a:sym typeface="+mn-ea"/>
              </a:rPr>
              <a:t>下的编程过程隐藏，给用户提供一个</a:t>
            </a:r>
            <a:r>
              <a:rPr lang="zh-CN" altLang="en-US" sz="2800" b="1" dirty="0">
                <a:sym typeface="+mn-ea"/>
              </a:rPr>
              <a:t>简单熟悉的接口</a:t>
            </a:r>
            <a:r>
              <a:rPr lang="zh-CN" altLang="en-US" sz="2800" dirty="0">
                <a:sym typeface="+mn-ea"/>
              </a:rPr>
              <a:t>。用户对于图形库中函数的调用，最终都会由</a:t>
            </a:r>
            <a:r>
              <a:rPr lang="en-US" altLang="zh-CN" sz="2800" dirty="0">
                <a:sym typeface="+mn-ea"/>
              </a:rPr>
              <a:t>Windows</a:t>
            </a:r>
            <a:r>
              <a:rPr lang="zh-CN" altLang="en-US" sz="2800" dirty="0">
                <a:sym typeface="+mn-ea"/>
              </a:rPr>
              <a:t>的底层</a:t>
            </a:r>
            <a:r>
              <a:rPr lang="en-US" altLang="zh-CN" sz="2800" dirty="0">
                <a:sym typeface="+mn-ea"/>
              </a:rPr>
              <a:t>API</a:t>
            </a:r>
            <a:r>
              <a:rPr lang="zh-CN" altLang="en-US" sz="2800" dirty="0">
                <a:sym typeface="+mn-ea"/>
              </a:rPr>
              <a:t>实现。</a:t>
            </a:r>
            <a:endParaRPr lang="en-US" altLang="zh-CN" sz="28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r>
              <a:rPr lang="en-US" altLang="zh-CN" sz="2800" b="1" dirty="0">
                <a:sym typeface="+mn-ea"/>
              </a:rPr>
              <a:t>EasyX</a:t>
            </a:r>
            <a:r>
              <a:rPr lang="zh-CN" altLang="en-US" sz="2800" b="1" dirty="0">
                <a:sym typeface="+mn-ea"/>
              </a:rPr>
              <a:t>不开源，</a:t>
            </a:r>
            <a:r>
              <a:rPr lang="en-US" altLang="zh-CN" sz="2800" b="1" dirty="0">
                <a:sym typeface="+mn-ea"/>
              </a:rPr>
              <a:t>EGE</a:t>
            </a:r>
            <a:r>
              <a:rPr lang="zh-CN" altLang="en-US" sz="2800" b="1" dirty="0">
                <a:sym typeface="+mn-ea"/>
              </a:rPr>
              <a:t>开源，可供参考。</a:t>
            </a:r>
            <a:endParaRPr lang="en-US" altLang="zh-CN" sz="2800" b="1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r>
              <a:rPr lang="zh-CN" altLang="en-US" sz="2800" b="1" dirty="0">
                <a:sym typeface="+mn-ea"/>
              </a:rPr>
              <a:t>通过学习</a:t>
            </a:r>
            <a:r>
              <a:rPr lang="en-US" altLang="zh-CN" sz="2800" b="1" dirty="0">
                <a:sym typeface="+mn-ea"/>
              </a:rPr>
              <a:t>Windows</a:t>
            </a:r>
            <a:r>
              <a:rPr lang="zh-CN" altLang="en-US" sz="2800" b="1" dirty="0">
                <a:sym typeface="+mn-ea"/>
              </a:rPr>
              <a:t>程序设计，我们也可以实现一个类似的库。</a:t>
            </a:r>
            <a:endParaRPr lang="en-US" altLang="zh-CN" sz="2800" b="1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376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颜色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7920880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8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EasyX-</a:t>
            </a:r>
            <a:r>
              <a:rPr lang="zh-CN" altLang="en-US" dirty="0"/>
              <a:t>颜色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800" dirty="0">
                <a:sym typeface="+mn-ea"/>
              </a:rPr>
              <a:t>RGB</a:t>
            </a:r>
            <a:r>
              <a:rPr lang="zh-CN" altLang="en-US" sz="2800" dirty="0">
                <a:sym typeface="+mn-ea"/>
              </a:rPr>
              <a:t>宏合成颜色</a:t>
            </a:r>
            <a:r>
              <a:rPr lang="en-US" altLang="zh-CN" sz="2800" dirty="0">
                <a:sym typeface="+mn-ea"/>
              </a:rPr>
              <a:t>RGB(0,0,255)</a:t>
            </a:r>
          </a:p>
          <a:p>
            <a:endParaRPr lang="en-US" altLang="zh-CN" sz="2800" dirty="0">
              <a:sym typeface="+mn-ea"/>
            </a:endParaRPr>
          </a:p>
          <a:p>
            <a:r>
              <a:rPr lang="zh-CN" altLang="en-US" sz="2800" dirty="0">
                <a:sym typeface="+mn-ea"/>
              </a:rPr>
              <a:t>十六进制形式</a:t>
            </a:r>
            <a:r>
              <a:rPr lang="en-US" altLang="zh-CN" sz="2800" dirty="0">
                <a:sym typeface="+mn-ea"/>
              </a:rPr>
              <a:t>:(0xbbggrr)</a:t>
            </a:r>
          </a:p>
          <a:p>
            <a:pPr lvl="1"/>
            <a:endParaRPr lang="en-US" altLang="zh-CN" sz="2400" dirty="0">
              <a:sym typeface="+mn-ea"/>
            </a:endParaRPr>
          </a:p>
          <a:p>
            <a:pPr lvl="1"/>
            <a:endParaRPr lang="en-US" altLang="zh-CN" sz="2400" dirty="0">
              <a:sym typeface="+mn-ea"/>
            </a:endParaRPr>
          </a:p>
          <a:p>
            <a:pPr lvl="1"/>
            <a:endParaRPr lang="en-US" altLang="zh-CN" sz="2400" dirty="0">
              <a:sym typeface="+mn-ea"/>
            </a:endParaRPr>
          </a:p>
          <a:p>
            <a:endParaRPr lang="en-US" altLang="zh-CN" sz="2800" dirty="0">
              <a:sym typeface="+mn-ea"/>
            </a:endParaRPr>
          </a:p>
          <a:p>
            <a:pPr marL="0" indent="0">
              <a:buNone/>
            </a:pPr>
            <a:endParaRPr lang="en-US" altLang="zh-CN" sz="2800" b="1" dirty="0">
              <a:sym typeface="+mn-ea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68960"/>
            <a:ext cx="4032448" cy="1359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126120"/>
            <a:ext cx="2736304" cy="726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555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EasyX-</a:t>
            </a:r>
            <a:r>
              <a:rPr lang="zh-CN" altLang="en-US" dirty="0"/>
              <a:t>坐标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ym typeface="+mn-ea"/>
              </a:rPr>
              <a:t>#include &lt;</a:t>
            </a:r>
            <a:r>
              <a:rPr lang="en-US" altLang="zh-CN" sz="2000" dirty="0" err="1">
                <a:sym typeface="+mn-ea"/>
              </a:rPr>
              <a:t>graphics.h</a:t>
            </a:r>
            <a:r>
              <a:rPr lang="en-US" altLang="zh-CN" sz="2000" dirty="0">
                <a:sym typeface="+mn-ea"/>
              </a:rPr>
              <a:t>&gt; 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#include &lt;</a:t>
            </a:r>
            <a:r>
              <a:rPr lang="en-US" altLang="zh-CN" sz="2000" dirty="0" err="1">
                <a:sym typeface="+mn-ea"/>
              </a:rPr>
              <a:t>conio.h</a:t>
            </a:r>
            <a:r>
              <a:rPr lang="en-US" altLang="zh-CN" sz="2000" dirty="0">
                <a:sym typeface="+mn-ea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#include &lt;</a:t>
            </a:r>
            <a:r>
              <a:rPr lang="en-US" altLang="zh-CN" sz="2000" dirty="0" err="1">
                <a:sym typeface="+mn-ea"/>
              </a:rPr>
              <a:t>stdio.h</a:t>
            </a:r>
            <a:r>
              <a:rPr lang="en-US" altLang="zh-CN" sz="2000" dirty="0">
                <a:sym typeface="+mn-ea"/>
              </a:rPr>
              <a:t>&gt; </a:t>
            </a:r>
          </a:p>
          <a:p>
            <a:pPr marL="0" indent="0">
              <a:buNone/>
            </a:pPr>
            <a:r>
              <a:rPr lang="en-US" altLang="zh-CN" sz="2000" dirty="0" err="1">
                <a:sym typeface="+mn-ea"/>
              </a:rPr>
              <a:t>int</a:t>
            </a:r>
            <a:r>
              <a:rPr lang="en-US" altLang="zh-CN" sz="2000" dirty="0">
                <a:sym typeface="+mn-ea"/>
              </a:rPr>
              <a:t> main() { 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</a:t>
            </a:r>
            <a:r>
              <a:rPr lang="en-US" altLang="zh-CN" sz="2000" dirty="0" err="1">
                <a:sym typeface="+mn-ea"/>
              </a:rPr>
              <a:t>initgraph</a:t>
            </a:r>
            <a:r>
              <a:rPr lang="en-US" altLang="zh-CN" sz="2000" dirty="0">
                <a:sym typeface="+mn-ea"/>
              </a:rPr>
              <a:t>(600, 800); 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</a:t>
            </a:r>
            <a:r>
              <a:rPr lang="en-US" altLang="zh-CN" sz="2000" dirty="0" err="1">
                <a:sym typeface="+mn-ea"/>
              </a:rPr>
              <a:t>fillcircle</a:t>
            </a:r>
            <a:r>
              <a:rPr lang="en-US" altLang="zh-CN" sz="2000" dirty="0">
                <a:sym typeface="+mn-ea"/>
              </a:rPr>
              <a:t>(300, 100, 50); 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</a:t>
            </a:r>
            <a:r>
              <a:rPr lang="en-US" altLang="zh-CN" sz="2000" dirty="0" err="1">
                <a:sym typeface="+mn-ea"/>
              </a:rPr>
              <a:t>fillcircle</a:t>
            </a:r>
            <a:r>
              <a:rPr lang="en-US" altLang="zh-CN" sz="2000" dirty="0">
                <a:sym typeface="+mn-ea"/>
              </a:rPr>
              <a:t>(300, 250, 50); 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</a:t>
            </a:r>
            <a:r>
              <a:rPr lang="en-US" altLang="zh-CN" sz="2000" dirty="0" err="1">
                <a:sym typeface="+mn-ea"/>
              </a:rPr>
              <a:t>fillcircle</a:t>
            </a:r>
            <a:r>
              <a:rPr lang="en-US" altLang="zh-CN" sz="2000" dirty="0">
                <a:sym typeface="+mn-ea"/>
              </a:rPr>
              <a:t>(300, 400, 50);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_</a:t>
            </a:r>
            <a:r>
              <a:rPr lang="en-US" altLang="zh-CN" sz="2000" dirty="0" err="1">
                <a:sym typeface="+mn-ea"/>
              </a:rPr>
              <a:t>getch</a:t>
            </a:r>
            <a:r>
              <a:rPr lang="en-US" altLang="zh-CN" sz="2000" dirty="0">
                <a:sym typeface="+mn-ea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</a:t>
            </a:r>
            <a:r>
              <a:rPr lang="en-US" altLang="zh-CN" sz="2000" dirty="0" err="1">
                <a:sym typeface="+mn-ea"/>
              </a:rPr>
              <a:t>closegraph</a:t>
            </a:r>
            <a:r>
              <a:rPr lang="en-US" altLang="zh-CN" sz="2000" dirty="0">
                <a:sym typeface="+mn-ea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            return 0; </a:t>
            </a:r>
          </a:p>
          <a:p>
            <a:pPr marL="0" indent="0">
              <a:buNone/>
            </a:pPr>
            <a:r>
              <a:rPr lang="en-US" altLang="zh-CN" sz="2000" dirty="0">
                <a:sym typeface="+mn-ea"/>
              </a:rPr>
              <a:t>}</a:t>
            </a:r>
          </a:p>
          <a:p>
            <a:pPr lvl="1"/>
            <a:endParaRPr lang="en-US" altLang="zh-CN" sz="2000" dirty="0">
              <a:sym typeface="+mn-ea"/>
            </a:endParaRPr>
          </a:p>
          <a:p>
            <a:pPr lvl="1"/>
            <a:endParaRPr lang="en-US" altLang="zh-CN" sz="2000" dirty="0">
              <a:sym typeface="+mn-ea"/>
            </a:endParaRPr>
          </a:p>
          <a:p>
            <a:endParaRPr lang="en-US" altLang="zh-CN" sz="2000" dirty="0">
              <a:sym typeface="+mn-ea"/>
            </a:endParaRPr>
          </a:p>
          <a:p>
            <a:pPr marL="0" indent="0">
              <a:buNone/>
            </a:pPr>
            <a:endParaRPr lang="en-US" altLang="zh-CN" sz="2000" b="1" dirty="0">
              <a:sym typeface="+mn-ea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834678"/>
            <a:ext cx="5040560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033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函数说明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60"/>
            <a:ext cx="8064896" cy="4504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028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环境函数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82" y="1390962"/>
            <a:ext cx="8261666" cy="44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4AA13A7-A183-821F-72F2-F104558ADEB2}"/>
              </a:ext>
            </a:extLst>
          </p:cNvPr>
          <p:cNvSpPr/>
          <p:nvPr/>
        </p:nvSpPr>
        <p:spPr>
          <a:xfrm>
            <a:off x="683568" y="3140968"/>
            <a:ext cx="936104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858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颜色和样式设置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81672"/>
            <a:ext cx="7499350" cy="508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961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图形绘制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13" y="764704"/>
            <a:ext cx="5492750" cy="566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86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文字输出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40768"/>
            <a:ext cx="6642100" cy="454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06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图像处理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29224"/>
            <a:ext cx="7848872" cy="506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909416F-A663-5DAA-994B-9C504700E335}"/>
              </a:ext>
            </a:extLst>
          </p:cNvPr>
          <p:cNvSpPr/>
          <p:nvPr/>
        </p:nvSpPr>
        <p:spPr>
          <a:xfrm>
            <a:off x="827584" y="2492896"/>
            <a:ext cx="1296144" cy="2160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C0EB09-42A4-8301-6DF3-BD7635DF8FE3}"/>
              </a:ext>
            </a:extLst>
          </p:cNvPr>
          <p:cNvSpPr/>
          <p:nvPr/>
        </p:nvSpPr>
        <p:spPr>
          <a:xfrm>
            <a:off x="827584" y="2780928"/>
            <a:ext cx="1296144" cy="280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DF7064-A72C-7FD8-7F75-A12FF360DFD9}"/>
              </a:ext>
            </a:extLst>
          </p:cNvPr>
          <p:cNvSpPr/>
          <p:nvPr/>
        </p:nvSpPr>
        <p:spPr>
          <a:xfrm>
            <a:off x="822552" y="3749309"/>
            <a:ext cx="1296144" cy="280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04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3692" y="116632"/>
            <a:ext cx="8229600" cy="660930"/>
          </a:xfrm>
        </p:spPr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人机交互</a:t>
            </a:r>
            <a:r>
              <a:rPr lang="en-US" altLang="zh-CN" dirty="0"/>
              <a:t>(</a:t>
            </a:r>
            <a:r>
              <a:rPr lang="zh-CN" altLang="en-US" dirty="0"/>
              <a:t>鼠标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077779"/>
            <a:ext cx="5904656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628800"/>
            <a:ext cx="3092609" cy="21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017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EasyX-</a:t>
            </a:r>
            <a:r>
              <a:rPr lang="zh-CN" altLang="en-US" dirty="0"/>
              <a:t>人机交互</a:t>
            </a:r>
            <a:r>
              <a:rPr lang="en-US" altLang="zh-CN" dirty="0"/>
              <a:t>(</a:t>
            </a:r>
            <a:r>
              <a:rPr lang="zh-CN" altLang="en-US" dirty="0"/>
              <a:t>键盘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0768"/>
            <a:ext cx="4457929" cy="812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125" y="2852936"/>
            <a:ext cx="295275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610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同侧圆角矩形 10"/>
          <p:cNvSpPr/>
          <p:nvPr/>
        </p:nvSpPr>
        <p:spPr>
          <a:xfrm rot="16200000">
            <a:off x="1256900" y="1921030"/>
            <a:ext cx="565200" cy="864986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12" name="同侧圆角矩形 11"/>
          <p:cNvSpPr/>
          <p:nvPr/>
        </p:nvSpPr>
        <p:spPr>
          <a:xfrm rot="16200000" flipV="1">
            <a:off x="4573112" y="-465881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2092643" y="2071712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EasyX</a:t>
            </a:r>
            <a:endParaRPr lang="zh-CN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12976" y="2122690"/>
            <a:ext cx="34015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406" name="标题 1"/>
          <p:cNvSpPr>
            <a:spLocks noGrp="1"/>
          </p:cNvSpPr>
          <p:nvPr>
            <p:ph type="title"/>
          </p:nvPr>
        </p:nvSpPr>
        <p:spPr>
          <a:xfrm>
            <a:off x="457200" y="123825"/>
            <a:ext cx="8229600" cy="661988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提纲</a:t>
            </a:r>
          </a:p>
        </p:txBody>
      </p:sp>
      <p:sp>
        <p:nvSpPr>
          <p:cNvPr id="33" name="同侧圆角矩形 32"/>
          <p:cNvSpPr/>
          <p:nvPr/>
        </p:nvSpPr>
        <p:spPr>
          <a:xfrm rot="16200000">
            <a:off x="1265261" y="3515419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4" name="同侧圆角矩形 33"/>
          <p:cNvSpPr/>
          <p:nvPr/>
        </p:nvSpPr>
        <p:spPr>
          <a:xfrm rot="16200000" flipV="1">
            <a:off x="4543331" y="360346"/>
            <a:ext cx="565150" cy="5640387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35" name="矩形 34"/>
          <p:cNvSpPr/>
          <p:nvPr/>
        </p:nvSpPr>
        <p:spPr>
          <a:xfrm>
            <a:off x="2062862" y="2935808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案例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1422882" y="3681106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" name="同侧圆角矩形 36"/>
          <p:cNvSpPr/>
          <p:nvPr/>
        </p:nvSpPr>
        <p:spPr>
          <a:xfrm rot="16200000">
            <a:off x="1267344" y="4378957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8" name="同侧圆角矩形 37"/>
          <p:cNvSpPr/>
          <p:nvPr/>
        </p:nvSpPr>
        <p:spPr>
          <a:xfrm rot="16200000" flipV="1">
            <a:off x="4545414" y="1118319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2121384" y="3645024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设计策略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413996" y="4571193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2" name="同侧圆角矩形 41"/>
          <p:cNvSpPr/>
          <p:nvPr/>
        </p:nvSpPr>
        <p:spPr>
          <a:xfrm rot="16200000" flipV="1">
            <a:off x="4546032" y="1982415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2065563" y="4519426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基本要求</a:t>
            </a:r>
          </a:p>
        </p:txBody>
      </p:sp>
      <p:sp>
        <p:nvSpPr>
          <p:cNvPr id="53" name="同侧圆角矩形 52"/>
          <p:cNvSpPr/>
          <p:nvPr/>
        </p:nvSpPr>
        <p:spPr>
          <a:xfrm rot="16200000">
            <a:off x="1247476" y="2757495"/>
            <a:ext cx="565200" cy="846138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1422882" y="3019600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33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659"/>
    </mc:Choice>
    <mc:Fallback xmlns="">
      <p:transition advTm="365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课程设计的目标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129614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运用有关结构化程序设计思想进行图形界面的软件设计，提升专业技能，提升编程自信</a:t>
            </a:r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card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165618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用户需求</a:t>
            </a:r>
            <a:r>
              <a:rPr lang="en-US" altLang="zh-CN" dirty="0"/>
              <a:t>: </a:t>
            </a:r>
            <a:r>
              <a:rPr lang="zh-CN" altLang="en-US" dirty="0"/>
              <a:t>通过设计图形界面扑克牌游戏，能够呈现利用</a:t>
            </a:r>
            <a:r>
              <a:rPr lang="en-US" altLang="zh-CN" dirty="0"/>
              <a:t>easyX</a:t>
            </a:r>
            <a:r>
              <a:rPr lang="zh-CN" altLang="en-US" dirty="0"/>
              <a:t>库进行图形界面软件设计、人机交互的基本方法</a:t>
            </a:r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64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card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273630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将一副去掉大小王的</a:t>
            </a:r>
            <a:r>
              <a:rPr lang="en-US" altLang="zh-CN" dirty="0"/>
              <a:t>52</a:t>
            </a:r>
            <a:r>
              <a:rPr lang="zh-CN" altLang="en-US" dirty="0"/>
              <a:t>张牌按一定顺序发给四个玩家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宏观的功能点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  <a:endParaRPr lang="en-US" altLang="zh-CN" dirty="0"/>
          </a:p>
          <a:p>
            <a:pPr lvl="1"/>
            <a:r>
              <a:rPr lang="zh-CN" altLang="en-US" dirty="0"/>
              <a:t>发新牌，顺序发牌</a:t>
            </a:r>
            <a:endParaRPr lang="en-US" altLang="zh-CN" dirty="0"/>
          </a:p>
          <a:p>
            <a:pPr lvl="1"/>
            <a:r>
              <a:rPr lang="zh-CN" altLang="en-US" dirty="0"/>
              <a:t>洗牌发牌，随机洗牌然后发牌</a:t>
            </a:r>
            <a:endParaRPr lang="en-US" altLang="zh-CN" dirty="0"/>
          </a:p>
          <a:p>
            <a:pPr lvl="1"/>
            <a:r>
              <a:rPr lang="zh-CN" altLang="en-US" dirty="0"/>
              <a:t>按点数理牌，排序</a:t>
            </a:r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08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5962E7-7F8B-8127-7A60-2ED4D3A4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11DD36-ECC3-E8C5-2940-9A6E21A0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44" y="1412776"/>
            <a:ext cx="3203848" cy="21065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9182474-959B-1CEE-222A-7B9C3827C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466486"/>
            <a:ext cx="3203848" cy="21065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CC80F50-7EEC-E8CB-06F2-18F6D3FC4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236" y="3714838"/>
            <a:ext cx="3195838" cy="210653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8BA915-96D2-3949-F49A-DE0790A6B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998" y="3715829"/>
            <a:ext cx="3203848" cy="210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82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14:prism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card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41838" y="971374"/>
            <a:ext cx="4418194" cy="373998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功能模块设计</a:t>
            </a:r>
            <a:endParaRPr lang="en-US" altLang="zh-CN" dirty="0"/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发新牌</a:t>
            </a:r>
            <a:r>
              <a:rPr lang="zh-CN" altLang="en-US" sz="2000" dirty="0"/>
              <a:t>模块：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en-US" altLang="zh-CN" sz="2000" dirty="0"/>
              <a:t>   </a:t>
            </a:r>
            <a:r>
              <a:rPr lang="zh-CN" altLang="en-US" sz="2000" dirty="0"/>
              <a:t>先顺序发牌给玩家，    然后</a:t>
            </a:r>
            <a:r>
              <a:rPr lang="zh-CN" altLang="en-US" sz="2000" dirty="0">
                <a:solidFill>
                  <a:srgbClr val="FF0000"/>
                </a:solidFill>
              </a:rPr>
              <a:t>显示模块</a:t>
            </a:r>
            <a:r>
              <a:rPr lang="en-US" altLang="zh-CN" sz="2000" dirty="0"/>
              <a:t>	</a:t>
            </a:r>
          </a:p>
          <a:p>
            <a:pPr lvl="1"/>
            <a:r>
              <a:rPr lang="zh-CN" altLang="en-US" sz="2000" dirty="0">
                <a:solidFill>
                  <a:srgbClr val="FF0000"/>
                </a:solidFill>
              </a:rPr>
              <a:t>随机发牌模块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      洗牌模块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/>
              <a:t>按点数理牌</a:t>
            </a:r>
            <a:r>
              <a:rPr lang="en-US" altLang="zh-CN" sz="2000" dirty="0"/>
              <a:t> </a:t>
            </a:r>
          </a:p>
          <a:p>
            <a:pPr marL="457200" lvl="1" indent="0"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 排序</a:t>
            </a:r>
            <a:endParaRPr lang="en-US" altLang="zh-CN" sz="2000" dirty="0"/>
          </a:p>
          <a:p>
            <a:pPr lvl="1"/>
            <a:r>
              <a:rPr lang="zh-CN" altLang="en-US" sz="2000" dirty="0"/>
              <a:t>主界面模块</a:t>
            </a:r>
            <a:endParaRPr lang="en-US" altLang="zh-CN" sz="2000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340768"/>
            <a:ext cx="2520280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285476"/>
            <a:ext cx="2520280" cy="1421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595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card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62372" y="1088905"/>
            <a:ext cx="7499176" cy="358202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数据结构设计</a:t>
            </a:r>
            <a:endParaRPr lang="en-US" altLang="zh-CN" dirty="0"/>
          </a:p>
          <a:p>
            <a:pPr lvl="1"/>
            <a:r>
              <a:rPr lang="zh-CN" altLang="en-US" sz="2400" dirty="0"/>
              <a:t>纸牌的结构体类型</a:t>
            </a:r>
            <a:endParaRPr lang="en-US" altLang="zh-CN" sz="2400" dirty="0"/>
          </a:p>
          <a:p>
            <a:pPr marL="914400" lvl="2" indent="0">
              <a:buNone/>
            </a:pPr>
            <a:r>
              <a:rPr lang="en-US" altLang="zh-CN" dirty="0" err="1"/>
              <a:t>typedef</a:t>
            </a:r>
            <a:r>
              <a:rPr lang="en-US" altLang="zh-CN" dirty="0"/>
              <a:t> </a:t>
            </a:r>
            <a:r>
              <a:rPr lang="en-US" altLang="zh-CN" dirty="0" err="1"/>
              <a:t>struct</a:t>
            </a:r>
            <a:r>
              <a:rPr lang="en-US" altLang="zh-CN" dirty="0"/>
              <a:t> {</a:t>
            </a:r>
          </a:p>
          <a:p>
            <a:pPr marL="914400" lvl="2" indent="0">
              <a:buNone/>
            </a:pPr>
            <a:r>
              <a:rPr lang="en-US" altLang="zh-CN" dirty="0"/>
              <a:t>  char  point;   // 0~12  </a:t>
            </a:r>
            <a:r>
              <a:rPr lang="en-US" altLang="zh-CN" dirty="0">
                <a:sym typeface="Wingdings" panose="05000000000000000000" pitchFamily="2" charset="2"/>
              </a:rPr>
              <a:t> A,2,…,k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  char  face;    // 0~3 </a:t>
            </a:r>
            <a:r>
              <a:rPr lang="en-US" altLang="zh-CN" dirty="0">
                <a:sym typeface="Wingdings" panose="05000000000000000000" pitchFamily="2" charset="2"/>
              </a:rPr>
              <a:t>  </a:t>
            </a:r>
            <a:r>
              <a:rPr lang="zh-CN" altLang="en-US" dirty="0">
                <a:sym typeface="Wingdings" panose="05000000000000000000" pitchFamily="2" charset="2"/>
              </a:rPr>
              <a:t>红心、方片、梅花、黑桃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}  CARD;</a:t>
            </a:r>
          </a:p>
          <a:p>
            <a:pPr marL="914400" lvl="2" indent="0">
              <a:buNone/>
            </a:pPr>
            <a:r>
              <a:rPr lang="en-US" altLang="zh-CN" dirty="0"/>
              <a:t>CARD Player[4][13];  //</a:t>
            </a:r>
            <a:r>
              <a:rPr lang="zh-CN" altLang="en-US" dirty="0"/>
              <a:t>表示四个玩家，每位玩家的</a:t>
            </a:r>
            <a:r>
              <a:rPr lang="en-US" altLang="zh-CN" dirty="0"/>
              <a:t>13</a:t>
            </a:r>
            <a:r>
              <a:rPr lang="zh-CN" altLang="en-US" dirty="0"/>
              <a:t>张牌</a:t>
            </a:r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82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card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358661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lvl="1" indent="0"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DispCard</a:t>
            </a:r>
            <a:r>
              <a:rPr lang="en-US" altLang="zh-CN" sz="2400" dirty="0"/>
              <a:t>(CARD  Player[4][13]); //</a:t>
            </a:r>
            <a:r>
              <a:rPr lang="zh-CN" altLang="en-US" sz="2400" dirty="0"/>
              <a:t>显示四位玩家牌面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NewDeal</a:t>
            </a:r>
            <a:r>
              <a:rPr lang="en-US" altLang="zh-CN" sz="2400" dirty="0"/>
              <a:t>( CARD  Player[4][13] ); // </a:t>
            </a:r>
            <a:r>
              <a:rPr lang="zh-CN" altLang="en-US" sz="2400" dirty="0"/>
              <a:t>按顺序发牌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RandCard</a:t>
            </a:r>
            <a:r>
              <a:rPr lang="en-US" altLang="zh-CN" sz="2400" dirty="0"/>
              <a:t>( char *</a:t>
            </a:r>
            <a:r>
              <a:rPr lang="en-US" altLang="zh-CN" sz="2400" dirty="0" err="1"/>
              <a:t>num</a:t>
            </a:r>
            <a:r>
              <a:rPr lang="en-US" altLang="zh-CN" sz="2400" dirty="0"/>
              <a:t> ); // </a:t>
            </a:r>
            <a:r>
              <a:rPr lang="zh-CN" altLang="en-US" sz="2400" dirty="0"/>
              <a:t>洗牌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ShuffleDeal</a:t>
            </a:r>
            <a:r>
              <a:rPr lang="en-US" altLang="zh-CN" sz="2400" dirty="0"/>
              <a:t>( CARD  Player[4][13] ); // </a:t>
            </a:r>
            <a:r>
              <a:rPr lang="zh-CN" altLang="en-US" sz="2400" dirty="0"/>
              <a:t>洗牌，并顺序发牌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SortPoint</a:t>
            </a:r>
            <a:r>
              <a:rPr lang="en-US" altLang="zh-CN" sz="2400" dirty="0"/>
              <a:t>( CARD  Player[4][13] ); // </a:t>
            </a:r>
            <a:r>
              <a:rPr lang="zh-CN" altLang="en-US" sz="2400" dirty="0"/>
              <a:t>选择递增排序理牌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void </a:t>
            </a:r>
            <a:r>
              <a:rPr lang="en-US" altLang="zh-CN" sz="2400" dirty="0" err="1"/>
              <a:t>DispMenu</a:t>
            </a:r>
            <a:r>
              <a:rPr lang="en-US" altLang="zh-CN" sz="2400" dirty="0"/>
              <a:t>(void)  //</a:t>
            </a:r>
            <a:r>
              <a:rPr lang="zh-CN" altLang="en-US" sz="2400" dirty="0"/>
              <a:t>加载并显示主界面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char </a:t>
            </a:r>
            <a:r>
              <a:rPr lang="en-US" altLang="zh-CN" sz="2400" dirty="0" err="1"/>
              <a:t>ChooseMenu</a:t>
            </a:r>
            <a:r>
              <a:rPr lang="en-US" altLang="zh-CN" sz="2400" dirty="0"/>
              <a:t>( void ) //</a:t>
            </a:r>
            <a:r>
              <a:rPr lang="zh-CN" altLang="en-US" sz="2400" dirty="0"/>
              <a:t>人机交互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400" dirty="0"/>
              <a:t>void main();//</a:t>
            </a:r>
            <a:r>
              <a:rPr lang="zh-CN" altLang="en-US" sz="2400" dirty="0"/>
              <a:t>主函数</a:t>
            </a:r>
            <a:endParaRPr lang="en-US" altLang="zh-CN" sz="2400" dirty="0"/>
          </a:p>
          <a:p>
            <a:pPr marL="457200" lvl="1" indent="0">
              <a:buNone/>
            </a:pPr>
            <a:endParaRPr lang="en-US" altLang="zh-CN" sz="2400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458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card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20882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1" dirty="0"/>
              <a:t>注重编程规范</a:t>
            </a:r>
            <a:endParaRPr lang="en-US" altLang="zh-CN" b="1" dirty="0"/>
          </a:p>
          <a:p>
            <a:r>
              <a:rPr lang="zh-CN" altLang="en-US" b="1" dirty="0"/>
              <a:t>注释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66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card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129614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熟练使用常用调试技巧进行问题排除</a:t>
            </a:r>
          </a:p>
          <a:p>
            <a:pPr marL="457200" lvl="1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流程图: 可选过程 2"/>
          <p:cNvSpPr/>
          <p:nvPr/>
        </p:nvSpPr>
        <p:spPr>
          <a:xfrm>
            <a:off x="1763688" y="4711356"/>
            <a:ext cx="936104" cy="12379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需求分析</a:t>
            </a:r>
          </a:p>
        </p:txBody>
      </p:sp>
      <p:sp>
        <p:nvSpPr>
          <p:cNvPr id="5" name="流程图: 可选过程 4"/>
          <p:cNvSpPr/>
          <p:nvPr/>
        </p:nvSpPr>
        <p:spPr>
          <a:xfrm>
            <a:off x="323529" y="4706775"/>
            <a:ext cx="792088" cy="1224136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用户需求</a:t>
            </a:r>
          </a:p>
        </p:txBody>
      </p:sp>
      <p:sp>
        <p:nvSpPr>
          <p:cNvPr id="10" name="流程图: 可选过程 9"/>
          <p:cNvSpPr/>
          <p:nvPr/>
        </p:nvSpPr>
        <p:spPr>
          <a:xfrm>
            <a:off x="3347864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概要设计</a:t>
            </a:r>
          </a:p>
        </p:txBody>
      </p:sp>
      <p:sp>
        <p:nvSpPr>
          <p:cNvPr id="11" name="流程图: 可选过程 10"/>
          <p:cNvSpPr/>
          <p:nvPr/>
        </p:nvSpPr>
        <p:spPr>
          <a:xfrm>
            <a:off x="4860032" y="4761148"/>
            <a:ext cx="792088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详细设计</a:t>
            </a:r>
          </a:p>
        </p:txBody>
      </p:sp>
      <p:sp>
        <p:nvSpPr>
          <p:cNvPr id="13" name="流程图: 可选过程 12"/>
          <p:cNvSpPr/>
          <p:nvPr/>
        </p:nvSpPr>
        <p:spPr>
          <a:xfrm>
            <a:off x="6300192" y="4725144"/>
            <a:ext cx="864096" cy="1116124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编码</a:t>
            </a:r>
          </a:p>
        </p:txBody>
      </p:sp>
      <p:sp>
        <p:nvSpPr>
          <p:cNvPr id="14" name="流程图: 可选过程 13"/>
          <p:cNvSpPr/>
          <p:nvPr/>
        </p:nvSpPr>
        <p:spPr>
          <a:xfrm>
            <a:off x="7812360" y="4711356"/>
            <a:ext cx="864096" cy="1116124"/>
          </a:xfrm>
          <a:prstGeom prst="flowChartAlternateProcess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dirty="0"/>
              <a:t>测试交付</a:t>
            </a:r>
          </a:p>
        </p:txBody>
      </p:sp>
      <p:sp>
        <p:nvSpPr>
          <p:cNvPr id="15" name="右箭头 14"/>
          <p:cNvSpPr/>
          <p:nvPr/>
        </p:nvSpPr>
        <p:spPr>
          <a:xfrm>
            <a:off x="1115617" y="5150298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699792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4211960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5652121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164288" y="5157192"/>
            <a:ext cx="648071" cy="36004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66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2084"/>
    </mc:Choice>
    <mc:Fallback xmlns="">
      <p:transition advTm="32084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同侧圆角矩形 10"/>
          <p:cNvSpPr/>
          <p:nvPr/>
        </p:nvSpPr>
        <p:spPr>
          <a:xfrm rot="16200000">
            <a:off x="1256900" y="1921030"/>
            <a:ext cx="565200" cy="864986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12" name="同侧圆角矩形 11"/>
          <p:cNvSpPr/>
          <p:nvPr/>
        </p:nvSpPr>
        <p:spPr>
          <a:xfrm rot="16200000" flipV="1">
            <a:off x="4573112" y="-465881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2092643" y="2071712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EasyX</a:t>
            </a:r>
            <a:endParaRPr lang="zh-CN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12976" y="2122690"/>
            <a:ext cx="34015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406" name="标题 1"/>
          <p:cNvSpPr>
            <a:spLocks noGrp="1"/>
          </p:cNvSpPr>
          <p:nvPr>
            <p:ph type="title"/>
          </p:nvPr>
        </p:nvSpPr>
        <p:spPr>
          <a:xfrm>
            <a:off x="457200" y="123825"/>
            <a:ext cx="8229600" cy="661988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提纲</a:t>
            </a:r>
          </a:p>
        </p:txBody>
      </p:sp>
      <p:sp>
        <p:nvSpPr>
          <p:cNvPr id="33" name="同侧圆角矩形 32"/>
          <p:cNvSpPr/>
          <p:nvPr/>
        </p:nvSpPr>
        <p:spPr>
          <a:xfrm rot="16200000">
            <a:off x="1265261" y="3515419"/>
            <a:ext cx="565200" cy="846138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4" name="同侧圆角矩形 33"/>
          <p:cNvSpPr/>
          <p:nvPr/>
        </p:nvSpPr>
        <p:spPr>
          <a:xfrm rot="16200000" flipV="1">
            <a:off x="4543331" y="360346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35" name="矩形 34"/>
          <p:cNvSpPr/>
          <p:nvPr/>
        </p:nvSpPr>
        <p:spPr>
          <a:xfrm>
            <a:off x="2062862" y="2935808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案例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1422882" y="3681106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" name="同侧圆角矩形 36"/>
          <p:cNvSpPr/>
          <p:nvPr/>
        </p:nvSpPr>
        <p:spPr>
          <a:xfrm rot="16200000">
            <a:off x="1267344" y="4378957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8" name="同侧圆角矩形 37"/>
          <p:cNvSpPr/>
          <p:nvPr/>
        </p:nvSpPr>
        <p:spPr>
          <a:xfrm rot="16200000" flipV="1">
            <a:off x="4545414" y="1118319"/>
            <a:ext cx="565150" cy="5640387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2121384" y="3645024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设计策略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413996" y="4571193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2" name="同侧圆角矩形 41"/>
          <p:cNvSpPr/>
          <p:nvPr/>
        </p:nvSpPr>
        <p:spPr>
          <a:xfrm rot="16200000" flipV="1">
            <a:off x="4546032" y="1982415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2065563" y="4519426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基本要求</a:t>
            </a:r>
          </a:p>
        </p:txBody>
      </p:sp>
      <p:sp>
        <p:nvSpPr>
          <p:cNvPr id="53" name="同侧圆角矩形 52"/>
          <p:cNvSpPr/>
          <p:nvPr/>
        </p:nvSpPr>
        <p:spPr>
          <a:xfrm rot="16200000">
            <a:off x="1247476" y="2757495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1422882" y="3019600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01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659"/>
    </mc:Choice>
    <mc:Fallback xmlns="">
      <p:transition advTm="365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设计策略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>
                <a:sym typeface="+mn-ea"/>
              </a:rPr>
              <a:t>设计框架</a:t>
            </a:r>
            <a:endParaRPr lang="en-US" altLang="zh-CN" sz="2800" b="1" dirty="0">
              <a:sym typeface="+mn-ea"/>
            </a:endParaRPr>
          </a:p>
          <a:p>
            <a:pPr marL="0" indent="0">
              <a:buNone/>
            </a:pPr>
            <a:r>
              <a:rPr lang="en-US" altLang="zh-CN" sz="2800" b="1" dirty="0">
                <a:sym typeface="+mn-ea"/>
              </a:rPr>
              <a:t>   </a:t>
            </a:r>
            <a:r>
              <a:rPr lang="en-US" altLang="zh-CN" sz="2400" b="1" dirty="0" err="1">
                <a:sym typeface="+mn-ea"/>
              </a:rPr>
              <a:t>int</a:t>
            </a:r>
            <a:r>
              <a:rPr lang="en-US" altLang="zh-CN" sz="2400" b="1" dirty="0">
                <a:sym typeface="+mn-ea"/>
              </a:rPr>
              <a:t> main() {</a:t>
            </a: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       startup();        // </a:t>
            </a:r>
            <a:r>
              <a:rPr lang="zh-CN" altLang="en-US" sz="2400" b="1" dirty="0">
                <a:sym typeface="+mn-ea"/>
              </a:rPr>
              <a:t>初始化</a:t>
            </a:r>
            <a:endParaRPr lang="en-US" altLang="zh-CN" sz="2400" b="1" dirty="0"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       while(1)  {       //</a:t>
            </a:r>
            <a:r>
              <a:rPr lang="zh-CN" altLang="en-US" sz="2400" b="1" dirty="0">
                <a:sym typeface="+mn-ea"/>
              </a:rPr>
              <a:t>游戏循环执行</a:t>
            </a:r>
            <a:endParaRPr lang="en-US" altLang="zh-CN" sz="2400" b="1" dirty="0"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            show();      // </a:t>
            </a:r>
            <a:r>
              <a:rPr lang="zh-CN" altLang="en-US" sz="2400" b="1" dirty="0">
                <a:sym typeface="+mn-ea"/>
              </a:rPr>
              <a:t>显示画面</a:t>
            </a:r>
            <a:endParaRPr lang="en-US" altLang="zh-CN" sz="2400" b="1" dirty="0"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            </a:t>
            </a:r>
            <a:r>
              <a:rPr lang="en-US" altLang="zh-CN" sz="2400" b="1" dirty="0" err="1">
                <a:sym typeface="+mn-ea"/>
              </a:rPr>
              <a:t>updateWithoutInput</a:t>
            </a:r>
            <a:r>
              <a:rPr lang="en-US" altLang="zh-CN" sz="2400" b="1" dirty="0">
                <a:sym typeface="+mn-ea"/>
              </a:rPr>
              <a:t>();  // </a:t>
            </a:r>
            <a:r>
              <a:rPr lang="zh-CN" altLang="en-US" sz="2400" b="1" dirty="0">
                <a:sym typeface="+mn-ea"/>
              </a:rPr>
              <a:t>与用户输入无关的更新</a:t>
            </a:r>
            <a:endParaRPr lang="en-US" altLang="zh-CN" sz="2400" b="1" dirty="0"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            </a:t>
            </a:r>
            <a:r>
              <a:rPr lang="en-US" altLang="zh-CN" sz="2400" b="1" dirty="0" err="1">
                <a:sym typeface="+mn-ea"/>
              </a:rPr>
              <a:t>updateWithInput</a:t>
            </a:r>
            <a:r>
              <a:rPr lang="en-US" altLang="zh-CN" sz="2400" b="1" dirty="0">
                <a:sym typeface="+mn-ea"/>
              </a:rPr>
              <a:t>();  // </a:t>
            </a:r>
            <a:r>
              <a:rPr lang="zh-CN" altLang="en-US" sz="2400" b="1" dirty="0">
                <a:sym typeface="+mn-ea"/>
              </a:rPr>
              <a:t>与用户输入有关的更新</a:t>
            </a:r>
            <a:endParaRPr lang="en-US" altLang="zh-CN" sz="2400" b="1" dirty="0">
              <a:sym typeface="+mn-ea"/>
            </a:endParaRP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       }</a:t>
            </a: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      return 0;</a:t>
            </a:r>
          </a:p>
          <a:p>
            <a:pPr marL="0" indent="0">
              <a:buNone/>
            </a:pPr>
            <a:r>
              <a:rPr lang="en-US" altLang="zh-CN" sz="2400" b="1" dirty="0">
                <a:sym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5830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设计策略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>
                <a:sym typeface="+mn-ea"/>
              </a:rPr>
              <a:t>批量绘制</a:t>
            </a:r>
            <a:endParaRPr lang="en-US" altLang="zh-CN" sz="2800" b="1" dirty="0"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64842"/>
            <a:ext cx="4801834" cy="4021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684530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62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同侧圆角矩形 10"/>
          <p:cNvSpPr/>
          <p:nvPr/>
        </p:nvSpPr>
        <p:spPr>
          <a:xfrm rot="16200000">
            <a:off x="1256900" y="1921030"/>
            <a:ext cx="565200" cy="864986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12" name="同侧圆角矩形 11"/>
          <p:cNvSpPr/>
          <p:nvPr/>
        </p:nvSpPr>
        <p:spPr>
          <a:xfrm rot="16200000" flipV="1">
            <a:off x="4573112" y="-465881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2092643" y="2071712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EasyX</a:t>
            </a:r>
            <a:endParaRPr lang="zh-CN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412976" y="2122690"/>
            <a:ext cx="340157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406" name="标题 1"/>
          <p:cNvSpPr>
            <a:spLocks noGrp="1"/>
          </p:cNvSpPr>
          <p:nvPr>
            <p:ph type="title"/>
          </p:nvPr>
        </p:nvSpPr>
        <p:spPr>
          <a:xfrm>
            <a:off x="457200" y="123825"/>
            <a:ext cx="8229600" cy="661988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提纲</a:t>
            </a:r>
          </a:p>
        </p:txBody>
      </p:sp>
      <p:sp>
        <p:nvSpPr>
          <p:cNvPr id="33" name="同侧圆角矩形 32"/>
          <p:cNvSpPr/>
          <p:nvPr/>
        </p:nvSpPr>
        <p:spPr>
          <a:xfrm rot="16200000">
            <a:off x="1265261" y="3515419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4" name="同侧圆角矩形 33"/>
          <p:cNvSpPr/>
          <p:nvPr/>
        </p:nvSpPr>
        <p:spPr>
          <a:xfrm rot="16200000" flipV="1">
            <a:off x="4543331" y="360346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/>
          </a:p>
        </p:txBody>
      </p:sp>
      <p:sp>
        <p:nvSpPr>
          <p:cNvPr id="35" name="矩形 34"/>
          <p:cNvSpPr/>
          <p:nvPr/>
        </p:nvSpPr>
        <p:spPr>
          <a:xfrm>
            <a:off x="2062862" y="2935808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案例</a:t>
            </a: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1422882" y="3681106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7" name="同侧圆角矩形 36"/>
          <p:cNvSpPr/>
          <p:nvPr/>
        </p:nvSpPr>
        <p:spPr>
          <a:xfrm rot="16200000">
            <a:off x="1267344" y="4378957"/>
            <a:ext cx="565200" cy="846138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8" name="同侧圆角矩形 37"/>
          <p:cNvSpPr/>
          <p:nvPr/>
        </p:nvSpPr>
        <p:spPr>
          <a:xfrm rot="16200000" flipV="1">
            <a:off x="4545414" y="1118319"/>
            <a:ext cx="565150" cy="5640387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39" name="矩形 38"/>
          <p:cNvSpPr/>
          <p:nvPr/>
        </p:nvSpPr>
        <p:spPr>
          <a:xfrm>
            <a:off x="2121384" y="3645024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设计策略</a:t>
            </a:r>
          </a:p>
        </p:txBody>
      </p:sp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413996" y="4571193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42" name="同侧圆角矩形 41"/>
          <p:cNvSpPr/>
          <p:nvPr/>
        </p:nvSpPr>
        <p:spPr>
          <a:xfrm rot="16200000" flipV="1">
            <a:off x="4546032" y="1982415"/>
            <a:ext cx="565150" cy="5640387"/>
          </a:xfrm>
          <a:prstGeom prst="round2SameRect">
            <a:avLst/>
          </a:prstGeom>
          <a:gradFill>
            <a:gsLst>
              <a:gs pos="0">
                <a:srgbClr val="000000"/>
              </a:gs>
              <a:gs pos="39999">
                <a:srgbClr val="0A128C"/>
              </a:gs>
              <a:gs pos="70000">
                <a:srgbClr val="181CC7"/>
              </a:gs>
              <a:gs pos="88000">
                <a:srgbClr val="7005D4"/>
              </a:gs>
              <a:gs pos="100000">
                <a:srgbClr val="8C3D91"/>
              </a:gs>
            </a:gsLst>
            <a:lin ang="16200000" scaled="0"/>
          </a:gra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43" name="矩形 42"/>
          <p:cNvSpPr/>
          <p:nvPr/>
        </p:nvSpPr>
        <p:spPr>
          <a:xfrm>
            <a:off x="2065563" y="4519426"/>
            <a:ext cx="5543550" cy="565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基本要求</a:t>
            </a:r>
          </a:p>
        </p:txBody>
      </p:sp>
      <p:sp>
        <p:nvSpPr>
          <p:cNvPr id="53" name="同侧圆角矩形 52"/>
          <p:cNvSpPr/>
          <p:nvPr/>
        </p:nvSpPr>
        <p:spPr>
          <a:xfrm rot="16200000">
            <a:off x="1247476" y="2757495"/>
            <a:ext cx="565200" cy="846138"/>
          </a:xfrm>
          <a:prstGeom prst="round2Same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/>
          </a:p>
        </p:txBody>
      </p:sp>
      <p:sp>
        <p:nvSpPr>
          <p:cNvPr id="54" name="矩形 53"/>
          <p:cNvSpPr>
            <a:spLocks noChangeArrowheads="1"/>
          </p:cNvSpPr>
          <p:nvPr/>
        </p:nvSpPr>
        <p:spPr bwMode="auto">
          <a:xfrm>
            <a:off x="1422882" y="3019600"/>
            <a:ext cx="340158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endParaRPr lang="ko-KR" altLang="en-US" sz="2400" b="1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593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3659"/>
    </mc:Choice>
    <mc:Fallback xmlns="">
      <p:transition advTm="365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课程设计基本要求</a:t>
            </a:r>
            <a:endParaRPr lang="zh-CN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124745"/>
            <a:ext cx="8579296" cy="5256584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2800" dirty="0"/>
              <a:t>2~3</a:t>
            </a:r>
            <a:r>
              <a:rPr lang="zh-CN" altLang="en-US" sz="2800" dirty="0"/>
              <a:t>人完成一个题目。  </a:t>
            </a:r>
            <a:r>
              <a:rPr lang="en-US" altLang="zh-CN" sz="2800" dirty="0"/>
              <a:t>(</a:t>
            </a:r>
            <a:r>
              <a:rPr lang="en-US" altLang="zh-CN" sz="2800" dirty="0">
                <a:solidFill>
                  <a:srgbClr val="FF0000"/>
                </a:solidFill>
              </a:rPr>
              <a:t>800</a:t>
            </a:r>
            <a:r>
              <a:rPr lang="zh-CN" altLang="en-US" sz="2800" dirty="0">
                <a:solidFill>
                  <a:srgbClr val="FF0000"/>
                </a:solidFill>
              </a:rPr>
              <a:t>行</a:t>
            </a:r>
            <a:r>
              <a:rPr lang="zh-CN" altLang="en-US" sz="2800" dirty="0"/>
              <a:t>以上</a:t>
            </a:r>
            <a:r>
              <a:rPr lang="en-US" altLang="zh-CN" sz="2800" dirty="0"/>
              <a:t>)</a:t>
            </a:r>
          </a:p>
          <a:p>
            <a:pPr lvl="0"/>
            <a:r>
              <a:rPr lang="zh-CN" altLang="en-US" sz="2800" dirty="0"/>
              <a:t>严禁抄袭他人成果（包括网上），一经发现，课程设计成绩记为</a:t>
            </a:r>
            <a:r>
              <a:rPr lang="zh-CN" altLang="en-US" sz="2800" dirty="0">
                <a:solidFill>
                  <a:srgbClr val="FF0000"/>
                </a:solidFill>
              </a:rPr>
              <a:t>不及格</a:t>
            </a:r>
            <a:r>
              <a:rPr lang="zh-CN" altLang="en-US" sz="2800" dirty="0"/>
              <a:t>；</a:t>
            </a:r>
          </a:p>
          <a:p>
            <a:pPr lvl="0"/>
            <a:r>
              <a:rPr lang="zh-CN" altLang="en-US" sz="2800" dirty="0"/>
              <a:t>学生须于</a:t>
            </a:r>
            <a:r>
              <a:rPr lang="en-US" altLang="zh-CN" sz="2800" dirty="0"/>
              <a:t>15</a:t>
            </a:r>
            <a:r>
              <a:rPr lang="zh-CN" altLang="en-US" sz="2800" dirty="0"/>
              <a:t>周</a:t>
            </a:r>
            <a:r>
              <a:rPr lang="en-US" altLang="zh-CN" sz="2800" dirty="0"/>
              <a:t>~16</a:t>
            </a:r>
            <a:r>
              <a:rPr lang="zh-CN" altLang="en-US" sz="2800" dirty="0"/>
              <a:t>周，将包括课程设计报告电子版、源代码工程、可执行程序和功能录制视频四个部分组成的压缩包，以及课程设计报告纸质版提交指导老师。压缩包文件命名格式如下：</a:t>
            </a:r>
            <a:endParaRPr lang="en-US" altLang="zh-CN" sz="2800" dirty="0"/>
          </a:p>
          <a:p>
            <a:pPr marL="0" lvl="0" indent="0">
              <a:buNone/>
            </a:pPr>
            <a:r>
              <a:rPr lang="en-US" altLang="zh-CN" sz="2800"/>
              <a:t>        </a:t>
            </a:r>
            <a:r>
              <a:rPr lang="zh-CN" altLang="en-US" sz="2800">
                <a:solidFill>
                  <a:srgbClr val="FF0000"/>
                </a:solidFill>
              </a:rPr>
              <a:t>学</a:t>
            </a:r>
            <a:r>
              <a:rPr lang="zh-CN" altLang="en-US" sz="2800" dirty="0">
                <a:solidFill>
                  <a:srgbClr val="FF0000"/>
                </a:solidFill>
              </a:rPr>
              <a:t>号</a:t>
            </a:r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r>
              <a:rPr lang="zh-CN" altLang="en-US" sz="2800" dirty="0">
                <a:solidFill>
                  <a:srgbClr val="FF0000"/>
                </a:solidFill>
              </a:rPr>
              <a:t>姓名</a:t>
            </a:r>
            <a:r>
              <a:rPr lang="en-US" altLang="zh-CN" sz="2800" dirty="0">
                <a:solidFill>
                  <a:srgbClr val="FF0000"/>
                </a:solidFill>
              </a:rPr>
              <a:t>+</a:t>
            </a:r>
            <a:r>
              <a:rPr lang="zh-CN" altLang="en-US" sz="2800" dirty="0">
                <a:solidFill>
                  <a:srgbClr val="FF0000"/>
                </a:solidFill>
              </a:rPr>
              <a:t>课程设计题目</a:t>
            </a:r>
            <a:r>
              <a:rPr lang="en-US" altLang="zh-CN" sz="2800" dirty="0">
                <a:solidFill>
                  <a:srgbClr val="FF0000"/>
                </a:solidFill>
              </a:rPr>
              <a:t>.</a:t>
            </a:r>
            <a:r>
              <a:rPr lang="en-US" altLang="zh-CN" sz="2800" dirty="0" err="1">
                <a:solidFill>
                  <a:srgbClr val="FF0000"/>
                </a:solidFill>
              </a:rPr>
              <a:t>rar</a:t>
            </a:r>
            <a:endParaRPr lang="zh-CN" altLang="en-US" sz="2800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报告的具体内容格式，必须严格按照学院给定的</a:t>
            </a:r>
            <a:r>
              <a:rPr lang="zh-CN" altLang="en-US" sz="2800" dirty="0">
                <a:solidFill>
                  <a:srgbClr val="FF0000"/>
                </a:solidFill>
              </a:rPr>
              <a:t>模板</a:t>
            </a:r>
            <a:r>
              <a:rPr lang="zh-CN" altLang="en-US" sz="2800" dirty="0"/>
              <a:t>完成</a:t>
            </a:r>
          </a:p>
        </p:txBody>
      </p:sp>
    </p:spTree>
    <p:extLst>
      <p:ext uri="{BB962C8B-B14F-4D97-AF65-F5344CB8AC3E}">
        <p14:creationId xmlns:p14="http://schemas.microsoft.com/office/powerpoint/2010/main" val="115264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713"/>
    </mc:Choice>
    <mc:Fallback xmlns="">
      <p:transition advTm="77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anchor="ctr"/>
      <a:lstStyle>
        <a:defPPr algn="ctr">
          <a:spcBef>
            <a:spcPts val="0"/>
          </a:spcBef>
          <a:spcAft>
            <a:spcPts val="0"/>
          </a:spcAft>
          <a:defRPr/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4615</TotalTime>
  <Words>823</Words>
  <Application>Microsoft Office PowerPoint</Application>
  <PresentationFormat>全屏显示(4:3)</PresentationFormat>
  <Paragraphs>210</Paragraphs>
  <Slides>32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黑体</vt:lpstr>
      <vt:lpstr>Arial</vt:lpstr>
      <vt:lpstr>Calibri</vt:lpstr>
      <vt:lpstr>Wingdings</vt:lpstr>
      <vt:lpstr>Office 主题</vt:lpstr>
      <vt:lpstr>PowerPoint 演示文稿</vt:lpstr>
      <vt:lpstr>提纲</vt:lpstr>
      <vt:lpstr>提纲</vt:lpstr>
      <vt:lpstr>EasyX</vt:lpstr>
      <vt:lpstr>EasyX</vt:lpstr>
      <vt:lpstr>EasyX</vt:lpstr>
      <vt:lpstr>EasyX-颜色</vt:lpstr>
      <vt:lpstr>EasyX-颜色</vt:lpstr>
      <vt:lpstr>EasyX-坐标</vt:lpstr>
      <vt:lpstr>EasyX-函数说明</vt:lpstr>
      <vt:lpstr>EasyX-环境函数</vt:lpstr>
      <vt:lpstr>EasyX-颜色和样式设置</vt:lpstr>
      <vt:lpstr>EasyX-图形绘制</vt:lpstr>
      <vt:lpstr>EasyX-文字输出</vt:lpstr>
      <vt:lpstr>EasyX-图像处理</vt:lpstr>
      <vt:lpstr>EasyX-人机交互(鼠标)</vt:lpstr>
      <vt:lpstr>EasyX-人机交互(键盘)</vt:lpstr>
      <vt:lpstr>提纲</vt:lpstr>
      <vt:lpstr>课程设计的目标</vt:lpstr>
      <vt:lpstr>案例card</vt:lpstr>
      <vt:lpstr>案例card</vt:lpstr>
      <vt:lpstr>PowerPoint 演示文稿</vt:lpstr>
      <vt:lpstr>案例card</vt:lpstr>
      <vt:lpstr>案例card</vt:lpstr>
      <vt:lpstr>案例card</vt:lpstr>
      <vt:lpstr>案例card</vt:lpstr>
      <vt:lpstr>案例card</vt:lpstr>
      <vt:lpstr>提纲</vt:lpstr>
      <vt:lpstr>设计策略</vt:lpstr>
      <vt:lpstr>设计策略</vt:lpstr>
      <vt:lpstr>提纲</vt:lpstr>
      <vt:lpstr>课程设计基本要求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 究方向：多源海量动态信息处理 团队带头人：吴信东 所 在  学 校：合肥工业大学</dc:title>
  <dc:creator>GQ</dc:creator>
  <cp:lastModifiedBy>超 阮</cp:lastModifiedBy>
  <cp:revision>1167</cp:revision>
  <cp:lastPrinted>2012-11-20T01:52:00Z</cp:lastPrinted>
  <dcterms:created xsi:type="dcterms:W3CDTF">2012-10-13T08:41:00Z</dcterms:created>
  <dcterms:modified xsi:type="dcterms:W3CDTF">2026-04-29T08:42:39Z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2052-10.1.0.7245</vt:lpwstr>
  </property>
</Properties>
</file>